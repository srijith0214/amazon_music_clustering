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00000"/>
                </a:solidFill>
                <a:latin typeface="Arial"/>
              </a:rPr>
              <a:t>Elbow Method – Real Inertia Values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Inertia</c:v>
                </c:pt>
              </c:strCache>
            </c:strRef>
          </c:tx>
          <c:spPr>
            <a:solidFill>
              <a:srgbClr val="E53935"/>
            </a:solidFill>
            <a:ln w="38100" cap="flat">
              <a:solidFill>
                <a:srgbClr val="E5393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53935"/>
              </a:solidFill>
              <a:ln w="9525" cap="flat">
                <a:solidFill>
                  <a:srgbClr val="E5393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</c:v>
                  </c:pt>
                  <c:pt idx="1">
                    <c:v>3</c:v>
                  </c:pt>
                  <c:pt idx="2">
                    <c:v>4</c:v>
                  </c:pt>
                  <c:pt idx="3">
                    <c:v>5</c:v>
                  </c:pt>
                  <c:pt idx="4">
                    <c:v>6</c:v>
                  </c:pt>
                  <c:pt idx="5">
                    <c:v>7</c:v>
                  </c:pt>
                  <c:pt idx="6">
                    <c:v>8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778814</c:v>
                </c:pt>
                <c:pt idx="1">
                  <c:v>658335</c:v>
                </c:pt>
                <c:pt idx="2">
                  <c:v>593031</c:v>
                </c:pt>
                <c:pt idx="3">
                  <c:v>548595</c:v>
                </c:pt>
                <c:pt idx="4">
                  <c:v>520711</c:v>
                </c:pt>
                <c:pt idx="5">
                  <c:v>486936</c:v>
                </c:pt>
                <c:pt idx="6">
                  <c:v>460215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00000"/>
                </a:solidFill>
                <a:latin typeface="Arial"/>
              </a:rPr>
              <a:t>Silhouette Score – Peak at k=3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Silhouette</c:v>
                </c:pt>
              </c:strCache>
            </c:strRef>
          </c:tx>
          <c:spPr>
            <a:solidFill>
              <a:srgbClr val="2E7D32"/>
            </a:solidFill>
            <a:ln w="38100" cap="flat">
              <a:solidFill>
                <a:srgbClr val="2E7D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32"/>
              </a:solidFill>
              <a:ln w="9525" cap="flat">
                <a:solidFill>
                  <a:srgbClr val="2E7D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</c:v>
                  </c:pt>
                  <c:pt idx="1">
                    <c:v>3</c:v>
                  </c:pt>
                  <c:pt idx="2">
                    <c:v>4</c:v>
                  </c:pt>
                  <c:pt idx="3">
                    <c:v>5</c:v>
                  </c:pt>
                  <c:pt idx="4">
                    <c:v>6</c:v>
                  </c:pt>
                  <c:pt idx="5">
                    <c:v>7</c:v>
                  </c:pt>
                  <c:pt idx="6">
                    <c:v>8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0.2007</c:v>
                </c:pt>
                <c:pt idx="1">
                  <c:v>0.2379</c:v>
                </c:pt>
                <c:pt idx="2">
                  <c:v>0.227</c:v>
                </c:pt>
                <c:pt idx="3">
                  <c:v>0.1862</c:v>
                </c:pt>
                <c:pt idx="4">
                  <c:v>0.1575</c:v>
                </c:pt>
                <c:pt idx="5">
                  <c:v>0.1878</c:v>
                </c:pt>
                <c:pt idx="6">
                  <c:v>0.1669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-457200"/>
            <a:ext cx="3474720" cy="3474720"/>
          </a:xfrm>
          <a:prstGeom prst="ellipse">
            <a:avLst/>
          </a:prstGeom>
          <a:solidFill>
            <a:srgbClr val="1565C0">
              <a:alpha val="25000"/>
            </a:srgbClr>
          </a:solidFill>
          <a:ln w="12700">
            <a:solidFill>
              <a:srgbClr val="1565C0">
                <a:alpha val="2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9520" y="2743200"/>
            <a:ext cx="2011680" cy="2011680"/>
          </a:xfrm>
          <a:prstGeom prst="ellipse">
            <a:avLst/>
          </a:prstGeom>
          <a:solidFill>
            <a:srgbClr val="00BCD4">
              <a:alpha val="20000"/>
            </a:srgbClr>
          </a:solidFill>
          <a:ln w="12700">
            <a:solidFill>
              <a:srgbClr val="00BCD4">
                <a:alpha val="2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914400"/>
            <a:ext cx="2651760" cy="310896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91440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1628"/>
                </a:solidFill>
              </a:rPr>
              <a:t>MUSIC ANALYTICS  ·  UNSUPERVISED ML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137160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Amazon Music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411480" y="224028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i="1" dirty="0">
                <a:solidFill>
                  <a:srgbClr val="00BC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Clustering Analysis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11480" y="315468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AFD4"/>
                </a:solidFill>
              </a:rPr>
              <a:t>K-Means (k=3)  ·  DBSCAN  ·  Hierarchical  ·  PCA  ·  t-SNE  ·  95,837 Songs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4663440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6FA5"/>
                </a:solidFill>
              </a:rPr>
              <a:t>GUVI | HCL   ·   Data Science &amp; AI Programme   ·   2025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AGENDA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886968"/>
            <a:ext cx="502920" cy="50292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869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60120" y="93268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340"/>
                </a:solidFill>
              </a:rPr>
              <a:t>Problem Statement &amp; Business Use Cases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502920" cy="50292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187452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340"/>
                </a:solidFill>
              </a:rPr>
              <a:t>Dataset Overview  (95,837 songs, 3,153 genres)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2770632"/>
            <a:ext cx="502920" cy="50292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2770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60120" y="2816352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340"/>
                </a:solidFill>
              </a:rPr>
              <a:t>EDA &amp; Preprocessing Pipeline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65760" y="3712464"/>
            <a:ext cx="502920" cy="50292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37124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60120" y="3758184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340"/>
                </a:solidFill>
              </a:rPr>
              <a:t>Clustering Algorithms  (K-Means, DBSCAN, Hierarchical)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846320" y="886968"/>
            <a:ext cx="502920" cy="50292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0" y="8869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40680" y="93268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340"/>
                </a:solidFill>
              </a:rPr>
              <a:t>Why k = 3?  Evidence from Actual Data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846320" y="1828800"/>
            <a:ext cx="502920" cy="50292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06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440680" y="187452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340"/>
                </a:solidFill>
              </a:rPr>
              <a:t>Dimensionality Reduction  (PCA + t-SNE)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846320" y="2770632"/>
            <a:ext cx="502920" cy="50292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0" y="2770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07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40680" y="2816352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340"/>
                </a:solidFill>
              </a:rPr>
              <a:t>Cluster Profiles &amp; Real Genre Analysis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846320" y="3712464"/>
            <a:ext cx="502920" cy="50292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37124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08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40680" y="3758184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340"/>
                </a:solidFill>
              </a:rPr>
              <a:t>Evaluation Metrics &amp; Conclusions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F6F00"/>
          </a:solidFill>
          <a:ln w="12700">
            <a:solidFill>
              <a:srgbClr val="FF6F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 · Problem Statement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8D8F0"/>
                </a:solidFill>
              </a:rPr>
              <a:t>With 95,837 songs across 3,153 genres and 17,662 artists on Amazon Music, manually categorising tracks is impractical. This project uses unsupervised ML to automatically discover 3 distinct audio clusters — without any prior genre labels.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365760" y="2450592"/>
            <a:ext cx="2057400" cy="2359152"/>
          </a:xfrm>
          <a:prstGeom prst="rect">
            <a:avLst/>
          </a:prstGeom>
          <a:solidFill>
            <a:srgbClr val="0D2140"/>
          </a:solidFill>
          <a:ln w="12700">
            <a:solidFill>
              <a:srgbClr val="00BCD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2542032"/>
            <a:ext cx="2057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🎵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65760" y="3044952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BCD4"/>
                </a:solidFill>
              </a:rPr>
              <a:t>Playlist Curation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3429000"/>
            <a:ext cx="1874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C0D8"/>
                </a:solidFill>
              </a:rPr>
              <a:t>3 themed playlists auto-generated from clusters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578608" y="2450592"/>
            <a:ext cx="2057400" cy="2359152"/>
          </a:xfrm>
          <a:prstGeom prst="rect">
            <a:avLst/>
          </a:prstGeom>
          <a:solidFill>
            <a:srgbClr val="0D2140"/>
          </a:solidFill>
          <a:ln w="12700">
            <a:solidFill>
              <a:srgbClr val="00BCD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78608" y="2542032"/>
            <a:ext cx="2057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578608" y="3044952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BCD4"/>
                </a:solidFill>
              </a:rPr>
              <a:t>Song Discovery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670048" y="3429000"/>
            <a:ext cx="1874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C0D8"/>
                </a:solidFill>
              </a:rPr>
              <a:t>Top-10 recommendations via audio feature distance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91456" y="2450592"/>
            <a:ext cx="2057400" cy="2359152"/>
          </a:xfrm>
          <a:prstGeom prst="rect">
            <a:avLst/>
          </a:prstGeom>
          <a:solidFill>
            <a:srgbClr val="0D2140"/>
          </a:solidFill>
          <a:ln w="12700">
            <a:solidFill>
              <a:srgbClr val="00BCD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91456" y="2542032"/>
            <a:ext cx="2057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🎤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791456" y="3044952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BCD4"/>
                </a:solidFill>
              </a:rPr>
              <a:t>Artist Analysis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82896" y="3429000"/>
            <a:ext cx="1874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C0D8"/>
                </a:solidFill>
              </a:rPr>
              <a:t>17,662 artists mapped to dominant audio cluster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004304" y="2450592"/>
            <a:ext cx="2057400" cy="2359152"/>
          </a:xfrm>
          <a:prstGeom prst="rect">
            <a:avLst/>
          </a:prstGeom>
          <a:solidFill>
            <a:srgbClr val="0D2140"/>
          </a:solidFill>
          <a:ln w="12700">
            <a:solidFill>
              <a:srgbClr val="00BCD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004304" y="2542032"/>
            <a:ext cx="2057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004304" y="3044952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BCD4"/>
                </a:solidFill>
              </a:rPr>
              <a:t>Market Segmentation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095744" y="3429000"/>
            <a:ext cx="1874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C0D8"/>
                </a:solidFill>
              </a:rPr>
              <a:t>3 audience segments for promotions &amp; targeting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02 · Dataset Overview  (Real Data)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804672"/>
            <a:ext cx="196596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86868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565C0"/>
                </a:solidFill>
              </a:rPr>
              <a:t>95,837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365760" y="1536192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Total Songs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514600" y="804672"/>
            <a:ext cx="196596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14600" y="86868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565C0"/>
                </a:solidFill>
              </a:rPr>
              <a:t>3,153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2514600" y="1536192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Unique Genres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804672"/>
            <a:ext cx="196596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63440" y="86868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565C0"/>
                </a:solidFill>
              </a:rPr>
              <a:t>17,662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663440" y="1536192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Unique Artists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12280" y="804672"/>
            <a:ext cx="196596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812280" y="86868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565C0"/>
                </a:solidFill>
              </a:rPr>
              <a:t>0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6812280" y="1536192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Missing Values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" y="217627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</a:rPr>
              <a:t>Columns: 23   ·   Duplicates: 0   ·   Date Range: 1900 – 2021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65760" y="254203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340"/>
                </a:solidFill>
              </a:rPr>
              <a:t>Audio Features Used for Clustering  (10 of 23 columns)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907792"/>
          <a:ext cx="8412480" cy="2057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1280160"/>
                <a:gridCol w="3474720"/>
              </a:tblGrid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Mean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Std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Range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40"/>
                          </a:solidFill>
                        </a:rPr>
                        <a:t>danceability</a:t>
                      </a:r>
                      <a:endParaRPr lang="en-US" sz="95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340"/>
                          </a:solidFill>
                        </a:rPr>
                        <a:t>0.587</a:t>
                      </a:r>
                      <a:endParaRPr lang="en-US" sz="95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340"/>
                          </a:solidFill>
                        </a:rPr>
                        <a:t>0.155</a:t>
                      </a:r>
                      <a:endParaRPr lang="en-US" sz="95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340"/>
                          </a:solidFill>
                        </a:rPr>
                        <a:t>0.0 – 0.991</a:t>
                      </a:r>
                      <a:endParaRPr lang="en-US" sz="95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40"/>
                          </a:solidFill>
                        </a:rPr>
                        <a:t>energy</a:t>
                      </a:r>
                      <a:endParaRPr lang="en-US" sz="95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340"/>
                          </a:solidFill>
                        </a:rPr>
                        <a:t>0.541</a:t>
                      </a:r>
                      <a:endParaRPr lang="en-US" sz="95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340"/>
                          </a:solidFill>
                        </a:rPr>
                        <a:t>0.236</a:t>
                      </a:r>
                      <a:endParaRPr lang="en-US" sz="95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340"/>
                          </a:solidFill>
                        </a:rPr>
                        <a:t>0.0 – 1.000</a:t>
                      </a:r>
                      <a:endParaRPr lang="en-US" sz="95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40"/>
                          </a:solidFill>
                        </a:rPr>
                        <a:t>loudness</a:t>
                      </a:r>
                      <a:endParaRPr lang="en-US" sz="95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340"/>
                          </a:solidFill>
                        </a:rPr>
                        <a:t>-10.16</a:t>
                      </a:r>
                      <a:endParaRPr lang="en-US" sz="95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340"/>
                          </a:solidFill>
                        </a:rPr>
                        <a:t>4.75</a:t>
                      </a:r>
                      <a:endParaRPr lang="en-US" sz="95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340"/>
                          </a:solidFill>
                        </a:rPr>
                        <a:t>-50.17 – 5.38 dB</a:t>
                      </a:r>
                      <a:endParaRPr lang="en-US" sz="95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40"/>
                          </a:solidFill>
                        </a:rPr>
                        <a:t>speechiness</a:t>
                      </a:r>
                      <a:endParaRPr lang="en-US" sz="95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340"/>
                          </a:solidFill>
                        </a:rPr>
                        <a:t>0.169</a:t>
                      </a:r>
                      <a:endParaRPr lang="en-US" sz="95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340"/>
                          </a:solidFill>
                        </a:rPr>
                        <a:t>0.275</a:t>
                      </a:r>
                      <a:endParaRPr lang="en-US" sz="95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340"/>
                          </a:solidFill>
                        </a:rPr>
                        <a:t>0.0 – 0.968</a:t>
                      </a:r>
                      <a:endParaRPr lang="en-US" sz="95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40"/>
                          </a:solidFill>
                        </a:rPr>
                        <a:t>acousticness</a:t>
                      </a:r>
                      <a:endParaRPr lang="en-US" sz="95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340"/>
                          </a:solidFill>
                        </a:rPr>
                        <a:t>0.459</a:t>
                      </a:r>
                      <a:endParaRPr lang="en-US" sz="95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340"/>
                          </a:solidFill>
                        </a:rPr>
                        <a:t>0.330</a:t>
                      </a:r>
                      <a:endParaRPr lang="en-US" sz="95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340"/>
                          </a:solidFill>
                        </a:rPr>
                        <a:t>0.0 – 0.996</a:t>
                      </a:r>
                      <a:endParaRPr lang="en-US" sz="95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40"/>
                          </a:solidFill>
                        </a:rPr>
                        <a:t>instrumentalness</a:t>
                      </a:r>
                      <a:endParaRPr lang="en-US" sz="95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340"/>
                          </a:solidFill>
                        </a:rPr>
                        <a:t>0.082</a:t>
                      </a:r>
                      <a:endParaRPr lang="en-US" sz="95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340"/>
                          </a:solidFill>
                        </a:rPr>
                        <a:t>0.232</a:t>
                      </a:r>
                      <a:endParaRPr lang="en-US" sz="95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340"/>
                          </a:solidFill>
                        </a:rPr>
                        <a:t>0.0 – 1.000</a:t>
                      </a:r>
                      <a:endParaRPr lang="en-US" sz="95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40"/>
                          </a:solidFill>
                        </a:rPr>
                        <a:t>liveness</a:t>
                      </a:r>
                      <a:endParaRPr lang="en-US" sz="95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340"/>
                          </a:solidFill>
                        </a:rPr>
                        <a:t>0.225</a:t>
                      </a:r>
                      <a:endParaRPr lang="en-US" sz="95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340"/>
                          </a:solidFill>
                        </a:rPr>
                        <a:t>0.186</a:t>
                      </a:r>
                      <a:endParaRPr lang="en-US" sz="95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340"/>
                          </a:solidFill>
                        </a:rPr>
                        <a:t>0.0 – 0.997</a:t>
                      </a:r>
                      <a:endParaRPr lang="en-US" sz="95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40"/>
                          </a:solidFill>
                        </a:rPr>
                        <a:t>valence</a:t>
                      </a:r>
                      <a:endParaRPr lang="en-US" sz="95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340"/>
                          </a:solidFill>
                        </a:rPr>
                        <a:t>0.574</a:t>
                      </a:r>
                      <a:endParaRPr lang="en-US" sz="95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340"/>
                          </a:solidFill>
                        </a:rPr>
                        <a:t>0.248</a:t>
                      </a:r>
                      <a:endParaRPr lang="en-US" sz="95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340"/>
                          </a:solidFill>
                        </a:rPr>
                        <a:t>0.0 – 1.000</a:t>
                      </a:r>
                      <a:endParaRPr lang="en-US" sz="95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40"/>
                          </a:solidFill>
                        </a:rPr>
                        <a:t>tempo</a:t>
                      </a:r>
                      <a:endParaRPr lang="en-US" sz="95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340"/>
                          </a:solidFill>
                        </a:rPr>
                        <a:t>117.5</a:t>
                      </a:r>
                      <a:endParaRPr lang="en-US" sz="95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340"/>
                          </a:solidFill>
                        </a:rPr>
                        <a:t>30.2</a:t>
                      </a:r>
                      <a:endParaRPr lang="en-US" sz="95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340"/>
                          </a:solidFill>
                        </a:rPr>
                        <a:t>0.0 – 239.9 BPM</a:t>
                      </a:r>
                      <a:endParaRPr lang="en-US" sz="95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40"/>
                          </a:solidFill>
                        </a:rPr>
                        <a:t>duration_ms</a:t>
                      </a:r>
                      <a:endParaRPr lang="en-US" sz="95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340"/>
                          </a:solidFill>
                        </a:rPr>
                        <a:t>208,732</a:t>
                      </a:r>
                      <a:endParaRPr lang="en-US" sz="95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340"/>
                          </a:solidFill>
                        </a:rPr>
                        <a:t>117,753</a:t>
                      </a:r>
                      <a:endParaRPr lang="en-US" sz="95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340"/>
                          </a:solidFill>
                        </a:rPr>
                        <a:t>6,373 – 4,800,118 ms</a:t>
                      </a:r>
                      <a:endParaRPr lang="en-US" sz="95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03 · EDA &amp; Preprocessing Pipeline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12648" y="1335024"/>
            <a:ext cx="0" cy="265176"/>
          </a:xfrm>
          <a:prstGeom prst="line">
            <a:avLst/>
          </a:prstGeom>
          <a:noFill/>
          <a:ln w="25400">
            <a:solidFill>
              <a:srgbClr val="00BCD4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365760" y="804672"/>
            <a:ext cx="502920" cy="50292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04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822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5C0"/>
                </a:solidFill>
              </a:rPr>
              <a:t>Load &amp; Inspect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078992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95,837 rows × 23 cols · 0 missing · 0 duplicates · dates 1900–2021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2648" y="2130552"/>
            <a:ext cx="0" cy="265176"/>
          </a:xfrm>
          <a:prstGeom prst="line">
            <a:avLst/>
          </a:prstGeom>
          <a:noFill/>
          <a:ln w="25400">
            <a:solidFill>
              <a:srgbClr val="00BCD4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365760" y="1600200"/>
            <a:ext cx="502920" cy="50292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05840" y="161848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5C0"/>
                </a:solidFill>
              </a:rPr>
              <a:t>Explore Features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187452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Histograms + mean lines · lower-triangle correlation heatmap · outlier box plots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2648" y="2926080"/>
            <a:ext cx="0" cy="265176"/>
          </a:xfrm>
          <a:prstGeom prst="line">
            <a:avLst/>
          </a:prstGeom>
          <a:noFill/>
          <a:ln w="25400">
            <a:solidFill>
              <a:srgbClr val="00BCD4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365760" y="2395728"/>
            <a:ext cx="502920" cy="50292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2414016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5C0"/>
                </a:solidFill>
              </a:rPr>
              <a:t>Key Correlations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2670048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loudness↔energy (+0.73) · energy↔acousticness (-0.66) · valence↔danceability (+0.50)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2648" y="3721608"/>
            <a:ext cx="0" cy="265176"/>
          </a:xfrm>
          <a:prstGeom prst="line">
            <a:avLst/>
          </a:prstGeom>
          <a:noFill/>
          <a:ln w="25400">
            <a:solidFill>
              <a:srgbClr val="00BCD4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365760" y="3191256"/>
            <a:ext cx="502920" cy="50292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1912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05840" y="320954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5C0"/>
                </a:solidFill>
              </a:rPr>
              <a:t>Drop ID Columns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5840" y="3465576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Remove id_songs, id_artists, name_song, name_artists — not used in clustering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65760" y="3986784"/>
            <a:ext cx="502920" cy="50292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9867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05840" y="400507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5C0"/>
                </a:solidFill>
              </a:rPr>
              <a:t>StandardScaler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005840" y="4261104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Zero mean, unit variance · Critical: tempo (0–240 BPM) vs danceability (0–1) need equalising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349240" y="804672"/>
            <a:ext cx="3474720" cy="3950208"/>
          </a:xfrm>
          <a:prstGeom prst="rect">
            <a:avLst/>
          </a:prstGeom>
          <a:solidFill>
            <a:srgbClr val="E8F4FD"/>
          </a:solidFill>
          <a:ln w="19050">
            <a:solidFill>
              <a:srgbClr val="00BCD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440680" y="896112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</a:rPr>
              <a:t>EDA Findings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40680" y="1335024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2340"/>
                </a:solidFill>
              </a:rPr>
              <a:t>speechiness is bimodal (0 vs 0.8+)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440680" y="1847088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2340"/>
                </a:solidFill>
              </a:rPr>
              <a:t>instrumentalness 75th percentile = 0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440680" y="2359152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2340"/>
                </a:solidFill>
              </a:rPr>
              <a:t>duration_ms: max = 80 minutes (outliers)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440680" y="2871216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2340"/>
                </a:solidFill>
              </a:rPr>
              <a:t>3,153 unique genre strings in dataset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440680" y="33832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2340"/>
                </a:solidFill>
              </a:rPr>
              <a:t>Top genre: hoerspiel (8,027 songs)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440680" y="3895344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2340"/>
                </a:solidFill>
              </a:rPr>
              <a:t>Energetic cluster = 54.8% of catalogue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 · Clustering Algorithms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41248"/>
            <a:ext cx="2743200" cy="4005072"/>
          </a:xfrm>
          <a:prstGeom prst="rect">
            <a:avLst/>
          </a:prstGeom>
          <a:solidFill>
            <a:srgbClr val="0D2140"/>
          </a:solidFill>
          <a:ln w="19050">
            <a:solidFill>
              <a:srgbClr val="1976D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841248"/>
            <a:ext cx="2743200" cy="566928"/>
          </a:xfrm>
          <a:prstGeom prst="rect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841248"/>
            <a:ext cx="2542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🎯  K-Means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1536192"/>
            <a:ext cx="248716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C8D8F0"/>
                </a:solidFill>
              </a:rPr>
              <a:t>Tested k=2 to k=8 on full 95,837 songs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02920" y="2194560"/>
            <a:ext cx="248716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C8D8F0"/>
                </a:solidFill>
              </a:rPr>
              <a:t>Silhouette peaks at k=3 → 0.2379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2852928"/>
            <a:ext cx="248716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C8D8F0"/>
                </a:solidFill>
              </a:rPr>
              <a:t>Elbow: largest drop at k=2→3 (120,479)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02920" y="3511296"/>
            <a:ext cx="248716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C8D8F0"/>
                </a:solidFill>
              </a:rPr>
              <a:t>n_init=10, random_state=42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246120" y="841248"/>
            <a:ext cx="2743200" cy="4005072"/>
          </a:xfrm>
          <a:prstGeom prst="rect">
            <a:avLst/>
          </a:prstGeom>
          <a:solidFill>
            <a:srgbClr val="0D2140"/>
          </a:solidFill>
          <a:ln w="19050">
            <a:solidFill>
              <a:srgbClr val="00838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46120" y="841248"/>
            <a:ext cx="2743200" cy="566928"/>
          </a:xfrm>
          <a:prstGeom prst="rect">
            <a:avLst/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55848" y="841248"/>
            <a:ext cx="2542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🔭  DBSCAN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383280" y="1536192"/>
            <a:ext cx="248716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C8D8F0"/>
                </a:solidFill>
              </a:rPr>
              <a:t>No k needed — density-based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383280" y="2194560"/>
            <a:ext cx="248716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C8D8F0"/>
                </a:solidFill>
              </a:rPr>
              <a:t>Result: 1 cluster + 9.8% noise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383280" y="2852928"/>
            <a:ext cx="248716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C8D8F0"/>
                </a:solidFill>
              </a:rPr>
              <a:t>Confirms K-Means is better suited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383280" y="3511296"/>
            <a:ext cx="248716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C8D8F0"/>
                </a:solidFill>
              </a:rPr>
              <a:t>eps=1.5, min_samples=15, 10K sample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126480" y="841248"/>
            <a:ext cx="2743200" cy="4005072"/>
          </a:xfrm>
          <a:prstGeom prst="rect">
            <a:avLst/>
          </a:prstGeom>
          <a:solidFill>
            <a:srgbClr val="0D2140"/>
          </a:solidFill>
          <a:ln w="19050">
            <a:solidFill>
              <a:srgbClr val="E6510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126480" y="841248"/>
            <a:ext cx="2743200" cy="566928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36208" y="841248"/>
            <a:ext cx="2542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🌳  Hierarchical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1536192"/>
            <a:ext cx="248716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C8D8F0"/>
                </a:solidFill>
              </a:rPr>
              <a:t>Ward linkage — minimises variance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263640" y="2194560"/>
            <a:ext cx="248716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C8D8F0"/>
                </a:solidFill>
              </a:rPr>
              <a:t>95K rows = 34GB RAM (crash fix needed)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263640" y="2852928"/>
            <a:ext cx="248716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C8D8F0"/>
                </a:solidFill>
              </a:rPr>
              <a:t>Fit on 5K sample + centroid propagation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263640" y="3511296"/>
            <a:ext cx="248716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C8D8F0"/>
                </a:solidFill>
              </a:rPr>
              <a:t>Dendrogram confirms 3-cluster structure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65760" y="4773168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0BCD4"/>
                </a:solidFill>
              </a:rPr>
              <a:t>Primary: K-Means (k=3) — best silhouette (0.2379) and confirmed elbow on actual data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05 · Why k = 3?  —  Evidence from Actual Dataset</a:t>
            </a:r>
            <a:endParaRPr lang="en-US" sz="2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777240"/>
          <a:ext cx="420624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663440" y="777240"/>
          <a:ext cx="41148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730752"/>
          <a:ext cx="8412480" cy="1261872"/>
        </p:xfrm>
        <a:graphic>
          <a:graphicData uri="http://schemas.openxmlformats.org/drawingml/2006/table">
            <a:tbl>
              <a:tblPr/>
              <a:tblGrid>
                <a:gridCol w="640080"/>
                <a:gridCol w="1371600"/>
                <a:gridCol w="1645920"/>
                <a:gridCol w="2194560"/>
                <a:gridCol w="2560320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k</a:t>
                      </a:r>
                      <a:endParaRPr lang="en-US" sz="12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Silhouette</a:t>
                      </a:r>
                      <a:endParaRPr lang="en-US" sz="12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Davies-Bouldin</a:t>
                      </a:r>
                      <a:endParaRPr lang="en-US" sz="12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Inertia Drop</a:t>
                      </a:r>
                      <a:endParaRPr lang="en-US" sz="12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Decision</a:t>
                      </a:r>
                      <a:endParaRPr lang="en-US" sz="12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0.2007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1.9355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Too broad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D47A1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D47A1"/>
                          </a:solidFill>
                        </a:rPr>
                        <a:t>0.2379</a:t>
                      </a:r>
                      <a:endParaRPr lang="en-US" sz="12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D47A1"/>
                          </a:solidFill>
                        </a:rPr>
                        <a:t>1.5702</a:t>
                      </a:r>
                      <a:endParaRPr lang="en-US" sz="12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D47A1"/>
                          </a:solidFill>
                        </a:rPr>
                        <a:t>120,479 (largest)</a:t>
                      </a:r>
                      <a:endParaRPr lang="en-US" sz="12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D47A1"/>
                          </a:solidFill>
                        </a:rPr>
                        <a:t>BEST k</a:t>
                      </a:r>
                      <a:endParaRPr lang="en-US" sz="12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0.2270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1.5302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65,304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Drops at k=4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0.1862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1.6888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44,436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Significant drop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6–8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0.15–0.18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1.47–1.70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&lt; 35,000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Flattening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F6F00"/>
          </a:solidFill>
          <a:ln w="12700">
            <a:solidFill>
              <a:srgbClr val="FF6F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 · Dimensionality Reduction  (PCA + t-SNE)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841248"/>
            <a:ext cx="4206240" cy="4005072"/>
          </a:xfrm>
          <a:prstGeom prst="rect">
            <a:avLst/>
          </a:prstGeom>
          <a:solidFill>
            <a:srgbClr val="0D2140"/>
          </a:solidFill>
          <a:ln w="19050">
            <a:solidFill>
              <a:srgbClr val="1565C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841248"/>
            <a:ext cx="4206240" cy="54864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84124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PCA  –  Principal Component Analysis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50876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8D8F0"/>
                </a:solidFill>
              </a:rPr>
              <a:t>PC1: 27.1%  |  PC2: 18.8%  |  Total: 45.9%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05740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8D8F0"/>
                </a:solidFill>
              </a:rPr>
              <a:t>7 components needed for 90% variance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60604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8D8F0"/>
                </a:solidFill>
              </a:rPr>
              <a:t>PC1 driven by loudness + energy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15468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8D8F0"/>
                </a:solidFill>
              </a:rPr>
              <a:t>PC2 driven by acousticness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370332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8D8F0"/>
                </a:solidFill>
              </a:rPr>
              <a:t>Run on full 95,837-song matrix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425196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8D8F0"/>
                </a:solidFill>
              </a:rPr>
              <a:t>Used for scatter visualisation only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800600" y="841248"/>
            <a:ext cx="4206240" cy="4005072"/>
          </a:xfrm>
          <a:prstGeom prst="rect">
            <a:avLst/>
          </a:prstGeom>
          <a:solidFill>
            <a:srgbClr val="0D2140"/>
          </a:solidFill>
          <a:ln w="19050">
            <a:solidFill>
              <a:srgbClr val="0069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800600" y="841248"/>
            <a:ext cx="4206240" cy="54864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37760" y="84124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t-SNE  –  t-Distributed Stochastic Neighbour Embedding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83480" y="150876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8D8F0"/>
                </a:solidFill>
              </a:rPr>
              <a:t>Non-linear — captures cluster topology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0" y="205740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8D8F0"/>
                </a:solidFill>
              </a:rPr>
              <a:t>5,000-song sample for speed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83480" y="260604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8D8F0"/>
                </a:solidFill>
              </a:rPr>
              <a:t>perplexity=40, max_iter=1000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83480" y="315468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8D8F0"/>
                </a:solidFill>
              </a:rPr>
              <a:t>sklearn &gt;= 1.4: use max_iter (not n_iter)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83480" y="370332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8D8F0"/>
                </a:solidFill>
              </a:rPr>
              <a:t>Shows 3 clearly separated regions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983480" y="425196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8D8F0"/>
                </a:solidFill>
              </a:rPr>
              <a:t>Used for visualisation only, not clustering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07 · Cluster Profiles  (k=3, Confirmed on Real Data)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65760" y="804672"/>
            <a:ext cx="8412480" cy="1243584"/>
          </a:xfrm>
          <a:prstGeom prst="rect">
            <a:avLst/>
          </a:prstGeom>
          <a:solidFill>
            <a:srgbClr val="FFFFFF"/>
          </a:solidFill>
          <a:ln w="25400">
            <a:solidFill>
              <a:srgbClr val="E5393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804672"/>
            <a:ext cx="8412480" cy="438912"/>
          </a:xfrm>
          <a:prstGeom prst="rect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804672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Cluster 0  —  Spoken Word / Audio Drama   (12,513  (13.1%))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32320" y="804672"/>
            <a:ext cx="1554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Avg pop: 28.2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1280160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40"/>
                </a:solidFill>
              </a:rPr>
              <a:t>Audio: speechiness = 0.83  ·  liveness = 0.44  ·  avg duration = 1.6 min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1554480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</a:rPr>
              <a:t>Top Genres: hoerspiel (7,564)  ·  kleine hoerspiel (2,005)  ·  poetry  ·  barnsagor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65760" y="2176272"/>
            <a:ext cx="8412480" cy="1243584"/>
          </a:xfrm>
          <a:prstGeom prst="rect">
            <a:avLst/>
          </a:prstGeom>
          <a:solidFill>
            <a:srgbClr val="FFFFFF"/>
          </a:solidFill>
          <a:ln w="25400">
            <a:solidFill>
              <a:srgbClr val="2E7D3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2176272"/>
            <a:ext cx="8412480" cy="43891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176272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Cluster 1  —  Acoustic / Slow Melodies   (30,807  (32.1%))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132320" y="2176272"/>
            <a:ext cx="1554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Avg pop: 20.7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" y="2651760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40"/>
                </a:solidFill>
              </a:rPr>
              <a:t>Audio: acousticness = 0.75  ·  energy = 0.31  ·  avg duration = 3.7 min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" y="2926080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</a:rPr>
              <a:t>Top Genres: vintage taiwan pop (1,131)  ·  chanson (550)  ·  classic soundtrack  ·  classic thai pop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3547872"/>
            <a:ext cx="8412480" cy="1243584"/>
          </a:xfrm>
          <a:prstGeom prst="rect">
            <a:avLst/>
          </a:prstGeom>
          <a:solidFill>
            <a:srgbClr val="FFFFFF"/>
          </a:solidFill>
          <a:ln w="25400">
            <a:solidFill>
              <a:srgbClr val="1565C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3547872"/>
            <a:ext cx="8412480" cy="43891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3547872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Cluster 2  —  Energetic Pop / Dance   (52,517  (54.8%))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132320" y="3547872"/>
            <a:ext cx="1554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Avg pop: 28.7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4023360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40"/>
                </a:solidFill>
              </a:rPr>
              <a:t>Audio: energy = 0.69  ·  loudness = -7.6 dB  ·  tempo = 124.9 BPM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297680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</a:rPr>
              <a:t>Top Genres: j-pop (878)  ·  turkish pop (683)  ·  thai pop (581)  ·  classic thai pop (649)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0" y="4645152"/>
            <a:ext cx="9144000" cy="438912"/>
          </a:xfrm>
          <a:prstGeom prst="rect">
            <a:avLst/>
          </a:prstGeom>
          <a:solidFill>
            <a:srgbClr val="E8F4FD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645152"/>
            <a:ext cx="8412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</a:rPr>
              <a:t>Silhouette = 0.2379   ·   Davies-Bouldin = 1.5702   ·   Inertia = 658,335   ·   Best k = 3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07b · Cluster Feature Mean Values  (From Actual Data)</a:t>
            </a:r>
            <a:endParaRPr lang="en-US" sz="1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777240"/>
          <a:ext cx="8503920" cy="4206240"/>
        </p:xfrm>
        <a:graphic>
          <a:graphicData uri="http://schemas.openxmlformats.org/drawingml/2006/table">
            <a:tbl>
              <a:tblPr/>
              <a:tblGrid>
                <a:gridCol w="2103120"/>
                <a:gridCol w="1554480"/>
                <a:gridCol w="1554480"/>
                <a:gridCol w="1554480"/>
                <a:gridCol w="1737360"/>
              </a:tblGrid>
              <a:tr h="32186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  <a:endParaRPr lang="en-US" sz="12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C0  Spoken Word</a:t>
                      </a:r>
                      <a:endParaRPr lang="en-US" sz="12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39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C1  Acoustic</a:t>
                      </a:r>
                      <a:endParaRPr lang="en-US" sz="12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C2  Energetic</a:t>
                      </a:r>
                      <a:endParaRPr lang="en-US" sz="12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Highest In</a:t>
                      </a:r>
                      <a:endParaRPr lang="en-US" sz="12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474F"/>
                    </a:solidFill>
                  </a:tcPr>
                </a:tc>
              </a:tr>
              <a:tr h="32186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340"/>
                          </a:solidFill>
                        </a:rPr>
                        <a:t>danceability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0.6643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0.4864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0.6273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C0, C2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186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340"/>
                          </a:solidFill>
                        </a:rPr>
                        <a:t>energy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0.4666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0.3112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0.6937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C2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32186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340"/>
                          </a:solidFill>
                        </a:rPr>
                        <a:t>loudness (dB)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-13.36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-13.21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-7.61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C2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186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340"/>
                          </a:solidFill>
                        </a:rPr>
                        <a:t>speechiness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0.8300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0.0601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0.0751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C0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32186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340"/>
                          </a:solidFill>
                        </a:rPr>
                        <a:t>acousticness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0.5859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0.7492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0.2585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C1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186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340"/>
                          </a:solidFill>
                        </a:rPr>
                        <a:t>instrumentalness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0.0014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0.1685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0.0507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C1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32186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340"/>
                          </a:solidFill>
                        </a:rPr>
                        <a:t>liveness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0.4355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0.1821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0.1999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C0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186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340"/>
                          </a:solidFill>
                        </a:rPr>
                        <a:t>valence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0.5840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0.4133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0.6664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C2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32186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340"/>
                          </a:solidFill>
                        </a:rPr>
                        <a:t>tempo (BPM)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100.4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111.9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124.9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C2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186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340"/>
                          </a:solidFill>
                        </a:rPr>
                        <a:t>duration (min)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1.6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3.7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3.8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C1, C2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32186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340"/>
                          </a:solidFill>
                        </a:rPr>
                        <a:t>Avg Popularity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28.2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20.7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28.7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C2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186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340"/>
                          </a:solidFill>
                        </a:rPr>
                        <a:t>Song Count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12,513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30,807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52,517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40"/>
                          </a:solidFill>
                        </a:rPr>
                        <a:t>C2</a:t>
                      </a:r>
                      <a:endParaRPr lang="en-US" sz="1000" dirty="0"/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 · Business Use-Case Outcomes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804672"/>
            <a:ext cx="8412480" cy="877824"/>
          </a:xfrm>
          <a:prstGeom prst="rect">
            <a:avLst/>
          </a:prstGeom>
          <a:solidFill>
            <a:srgbClr val="0D2140"/>
          </a:solidFill>
          <a:ln w="12700">
            <a:solidFill>
              <a:srgbClr val="0277B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996696"/>
            <a:ext cx="502920" cy="502920"/>
          </a:xfrm>
          <a:prstGeom prst="ellipse">
            <a:avLst/>
          </a:prstGeom>
          <a:solidFill>
            <a:srgbClr val="0277BD"/>
          </a:solidFill>
          <a:ln w="12700">
            <a:solidFill>
              <a:srgbClr val="0277B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9966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🎵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87782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CD4"/>
                </a:solidFill>
              </a:rPr>
              <a:t>Playlist Curation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43000" y="1225296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0D8"/>
                </a:solidFill>
              </a:rPr>
              <a:t>3 playlists: Energetic Pop (52,517 songs, pop 28.7), Acoustic (30,807, pop 20.7), Spoken Word (12,513, pop 28.2). Songs ranked by popularity within each cluster.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65760" y="1792224"/>
            <a:ext cx="8412480" cy="877824"/>
          </a:xfrm>
          <a:prstGeom prst="rect">
            <a:avLst/>
          </a:prstGeom>
          <a:solidFill>
            <a:srgbClr val="0D2140"/>
          </a:solidFill>
          <a:ln w="12700">
            <a:solidFill>
              <a:srgbClr val="0069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1984248"/>
            <a:ext cx="502920" cy="502920"/>
          </a:xfrm>
          <a:prstGeom prst="ellipse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9842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43000" y="1865376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CD4"/>
                </a:solidFill>
              </a:rPr>
              <a:t>Song Discovery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43000" y="2212848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0D8"/>
                </a:solidFill>
              </a:rPr>
              <a:t>Given any seed song, return top-10 most similar by Euclidean distance in scaled 10-feature space. Fully audio-based — no play history or ratings required.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65760" y="2779776"/>
            <a:ext cx="8412480" cy="877824"/>
          </a:xfrm>
          <a:prstGeom prst="rect">
            <a:avLst/>
          </a:prstGeom>
          <a:solidFill>
            <a:srgbClr val="0D2140"/>
          </a:solidFill>
          <a:ln w="12700">
            <a:solidFill>
              <a:srgbClr val="6A1B9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02920" y="2971800"/>
            <a:ext cx="502920" cy="502920"/>
          </a:xfrm>
          <a:prstGeom prst="ellipse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🎤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143000" y="2852928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CD4"/>
                </a:solidFill>
              </a:rPr>
              <a:t>Artist Analysis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43000" y="3200400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0D8"/>
                </a:solidFill>
              </a:rPr>
              <a:t>17,662 artists mapped to primary cluster. Sorted by avg popularity. Producers identify direct competition within their audio niche (e.g. all energetic-pop artists ranked).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65760" y="3767328"/>
            <a:ext cx="8412480" cy="877824"/>
          </a:xfrm>
          <a:prstGeom prst="rect">
            <a:avLst/>
          </a:prstGeom>
          <a:solidFill>
            <a:srgbClr val="0D2140"/>
          </a:solidFill>
          <a:ln w="12700">
            <a:solidFill>
              <a:srgbClr val="BF360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02920" y="3959352"/>
            <a:ext cx="502920" cy="502920"/>
          </a:xfrm>
          <a:prstGeom prst="ellipse">
            <a:avLst/>
          </a:prstGeom>
          <a:solidFill>
            <a:srgbClr val="BF360C"/>
          </a:solidFill>
          <a:ln w="12700">
            <a:solidFill>
              <a:srgbClr val="BF360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959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143000" y="3840480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CD4"/>
                </a:solidFill>
              </a:rPr>
              <a:t>Market Segmentation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43000" y="4187952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0D8"/>
                </a:solidFill>
              </a:rPr>
              <a:t>C2 Energetic Pop dominates (54.8%). C1 Acoustic has lowest avg popularity (20.7) — promotion opportunity. Platform segments ad targeting and licensing by cluster.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09 · Evaluation Metrics &amp; Algorithm Comparison  (Real Values)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2743200" cy="1828800"/>
          </a:xfrm>
          <a:prstGeom prst="rect">
            <a:avLst/>
          </a:prstGeom>
          <a:solidFill>
            <a:srgbClr val="FFFFFF"/>
          </a:solidFill>
          <a:ln w="25400">
            <a:solidFill>
              <a:srgbClr val="1565C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82296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565C0"/>
                </a:solidFill>
              </a:rPr>
              <a:t>0.2379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365760" y="160020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340"/>
                </a:solidFill>
              </a:rPr>
              <a:t>Silhouette Score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best = 1.0   ·   Songs reasonably close to own cluster vs others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46120" y="777240"/>
            <a:ext cx="2743200" cy="1828800"/>
          </a:xfrm>
          <a:prstGeom prst="rect">
            <a:avLst/>
          </a:prstGeom>
          <a:solidFill>
            <a:srgbClr val="FFFFFF"/>
          </a:solidFill>
          <a:ln w="25400">
            <a:solidFill>
              <a:srgbClr val="2E7D3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46120" y="82296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E7D32"/>
                </a:solidFill>
              </a:rPr>
              <a:t>1.5702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3246120" y="160020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340"/>
                </a:solidFill>
              </a:rPr>
              <a:t>Davies-Bouldin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37560" y="192024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best = 0.0   ·   Acceptable inter-cluster separation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126480" y="777240"/>
            <a:ext cx="2743200" cy="1828800"/>
          </a:xfrm>
          <a:prstGeom prst="rect">
            <a:avLst/>
          </a:prstGeom>
          <a:solidFill>
            <a:srgbClr val="FFFFFF"/>
          </a:solidFill>
          <a:ln w="25400">
            <a:solidFill>
              <a:srgbClr val="E6510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26480" y="82296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65100"/>
                </a:solidFill>
              </a:rPr>
              <a:t>658K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126480" y="160020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340"/>
                </a:solidFill>
              </a:rPr>
              <a:t>Inertia (SSE)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17920" y="192024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best = 0.0   ·   Compact at elbow k=3 (drop of 120K from k=2)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65760" y="2834640"/>
            <a:ext cx="8412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340"/>
                </a:solidFill>
              </a:rPr>
              <a:t>Algorithm Comparison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200400"/>
          <a:ext cx="8412480" cy="1691640"/>
        </p:xfrm>
        <a:graphic>
          <a:graphicData uri="http://schemas.openxmlformats.org/drawingml/2006/table">
            <a:tbl>
              <a:tblPr/>
              <a:tblGrid>
                <a:gridCol w="2194560"/>
                <a:gridCol w="1371600"/>
                <a:gridCol w="1645920"/>
                <a:gridCol w="2194560"/>
                <a:gridCol w="1005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Algorithm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Silhouette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Davies-Bouldin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Notes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Verdict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D47A1"/>
                          </a:solidFill>
                        </a:rPr>
                        <a:t>K-Means (k=3)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D47A1"/>
                          </a:solidFill>
                        </a:rPr>
                        <a:t>0.2379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D47A1"/>
                          </a:solidFill>
                        </a:rPr>
                        <a:t>1.5702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D47A1"/>
                          </a:solidFill>
                        </a:rPr>
                        <a:t>Full 95,837 songs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D47A1"/>
                          </a:solidFill>
                        </a:rPr>
                        <a:t>Best — primary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340"/>
                          </a:solidFill>
                        </a:rPr>
                        <a:t>Hierarchical (k=3)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340"/>
                          </a:solidFill>
                        </a:rPr>
                        <a:t>~0.23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340"/>
                          </a:solidFill>
                        </a:rPr>
                        <a:t>~1.58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340"/>
                          </a:solidFill>
                        </a:rPr>
                        <a:t>5K sample + centroid propagation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340"/>
                          </a:solidFill>
                        </a:rPr>
                        <a:t>Confirms K-Means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340"/>
                          </a:solidFill>
                        </a:rPr>
                        <a:t>DBSCAN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340"/>
                          </a:solidFill>
                        </a:rPr>
                        <a:t>N/A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340"/>
                          </a:solidFill>
                        </a:rPr>
                        <a:t>N/A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340"/>
                          </a:solidFill>
                        </a:rPr>
                        <a:t>1 cluster + 9.8% noise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340"/>
                          </a:solidFill>
                        </a:rPr>
                        <a:t>Not suitable here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F6F00"/>
          </a:solidFill>
          <a:ln w="12700">
            <a:solidFill>
              <a:srgbClr val="FF6F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· Conclusions &amp; Recommendations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CD4"/>
                </a:solidFill>
              </a:rPr>
              <a:t>Key Findings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225296"/>
            <a:ext cx="8412480" cy="548640"/>
          </a:xfrm>
          <a:prstGeom prst="rect">
            <a:avLst/>
          </a:prstGeom>
          <a:solidFill>
            <a:srgbClr val="0D21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25296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✅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24128" y="1261872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CD4"/>
                </a:solidFill>
              </a:rPr>
              <a:t>k=3 confirmed by 3 independent metrics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1499616"/>
            <a:ext cx="7498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0D8"/>
                </a:solidFill>
              </a:rPr>
              <a:t>Silhouette peaks (0.2379), largest inertia drop (120,479), and best DB index (1.5702) all agree at k=3.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65760" y="1865376"/>
            <a:ext cx="8412480" cy="548640"/>
          </a:xfrm>
          <a:prstGeom prst="rect">
            <a:avLst/>
          </a:prstGeom>
          <a:solidFill>
            <a:srgbClr val="0D21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865376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✅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24128" y="1901952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CD4"/>
                </a:solidFill>
              </a:rPr>
              <a:t>3 genuinely distinct audio profiles found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24128" y="2139696"/>
            <a:ext cx="7498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0D8"/>
                </a:solidFill>
              </a:rPr>
              <a:t>Spoken Word/Drama (high speechiness, short), Acoustic/Slow (high acousticness, mellow), Energetic Pop (loud, fast, danceable).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2505456"/>
            <a:ext cx="8412480" cy="548640"/>
          </a:xfrm>
          <a:prstGeom prst="rect">
            <a:avLst/>
          </a:prstGeom>
          <a:solidFill>
            <a:srgbClr val="0D21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505456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✅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24128" y="2542032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CD4"/>
                </a:solidFill>
              </a:rPr>
              <a:t>DBSCAN confirms non-density structure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24128" y="2779776"/>
            <a:ext cx="7498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0D8"/>
                </a:solidFill>
              </a:rPr>
              <a:t>Result: 1 cluster + 9.8% noise. K-Means centroid-based approach is the correct choice for this audio dataset.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65760" y="2852928"/>
            <a:ext cx="8412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CD4"/>
                </a:solidFill>
              </a:rPr>
              <a:t>Recommendations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65760" y="3255264"/>
            <a:ext cx="8412480" cy="548640"/>
          </a:xfrm>
          <a:prstGeom prst="rect">
            <a:avLst/>
          </a:prstGeom>
          <a:solidFill>
            <a:srgbClr val="0D21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255264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🚀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024128" y="3291840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CD4"/>
                </a:solidFill>
              </a:rPr>
              <a:t>Deploy as real-time recommendation API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24128" y="3529584"/>
            <a:ext cx="7498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0D8"/>
                </a:solidFill>
              </a:rPr>
              <a:t>Integrate cluster labels into Amazon Music for playlist generation and song discovery — audio-only, no play history needed.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65760" y="3895344"/>
            <a:ext cx="8412480" cy="548640"/>
          </a:xfrm>
          <a:prstGeom prst="rect">
            <a:avLst/>
          </a:prstGeom>
          <a:solidFill>
            <a:srgbClr val="0D21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3895344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📈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024128" y="3931920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CD4"/>
                </a:solidFill>
              </a:rPr>
              <a:t>Target Cluster 1 (Acoustic) for growth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24128" y="4169664"/>
            <a:ext cx="7498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0D8"/>
                </a:solidFill>
              </a:rPr>
              <a:t>Avg popularity 20.7 vs 28.7 for Energetic Pop. Promotion opportunity: chanson, vintage pop, classic soundtrack listeners.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65760" y="4535424"/>
            <a:ext cx="8412480" cy="548640"/>
          </a:xfrm>
          <a:prstGeom prst="rect">
            <a:avLst/>
          </a:prstGeom>
          <a:solidFill>
            <a:srgbClr val="0D21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4535424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🔄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024128" y="4572000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CD4"/>
                </a:solidFill>
              </a:rPr>
              <a:t>Retrain quarterly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24128" y="4809744"/>
            <a:ext cx="7498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0D8"/>
                </a:solidFill>
              </a:rPr>
              <a:t>Music catalogue grows continuously. Schedule quarterly K-Means retraining (k=3) to maintain cluster relevance.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4572000" cy="4572000"/>
          </a:xfrm>
          <a:prstGeom prst="ellipse">
            <a:avLst/>
          </a:prstGeom>
          <a:solidFill>
            <a:srgbClr val="1565C0">
              <a:alpha val="20000"/>
            </a:srgbClr>
          </a:solidFill>
          <a:ln w="12700">
            <a:solidFill>
              <a:srgbClr val="1565C0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2743200"/>
            <a:ext cx="3657600" cy="3657600"/>
          </a:xfrm>
          <a:prstGeom prst="ellipse">
            <a:avLst/>
          </a:prstGeom>
          <a:solidFill>
            <a:srgbClr val="00BCD4">
              <a:alpha val="15000"/>
            </a:srgbClr>
          </a:solidFill>
          <a:ln w="12700">
            <a:solidFill>
              <a:srgbClr val="00BCD4">
                <a:alpha val="15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58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BCD4"/>
                </a:solidFill>
              </a:rPr>
              <a:t>Amazon Music Clustering  ·  k=3  ·  95,837 Songs  ·  Silhouette=0.2379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97280" y="2148840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8D8F0"/>
                </a:solidFill>
              </a:rPr>
              <a:t>amazon_music_clustering.py — Full pipeline: 7 phases, 3 algorithms, 14 plots, 4 business use cases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097280" y="2578608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8D8F0"/>
                </a:solidFill>
              </a:rPr>
              <a:t>streamlit_app.py           — 6-tab interactive dashboard with live clustering &amp; CSV download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097280" y="3008376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8D8F0"/>
                </a:solidFill>
              </a:rPr>
              <a:t>songs_with_clusters.csv    — 95,837 songs with cluster labels (C0 / C1 / C2)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" y="3438144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8D8F0"/>
                </a:solidFill>
              </a:rPr>
              <a:t>cluster_profiles.csv       — Mean audio feature profile per cluster with mood labels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97280" y="3867912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8D8F0"/>
                </a:solidFill>
              </a:rPr>
              <a:t>cluster_outputs/plots/     — 14 visualisation plots (PCA, t-SNE, heatmap, dendrogram, etc.)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6FA5"/>
                </a:solidFill>
              </a:rPr>
              <a:t>GUVI | HCL   ·   Data Science &amp; AI Programme   ·   Music Analytics / Unsupervised ML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Amazon Music Clustering</dc:title>
  <dc:subject>PptxGenJS Presentation</dc:subject>
  <dc:creator>GUVI | HCL</dc:creator>
  <cp:lastModifiedBy>GUVI | HCL</cp:lastModifiedBy>
  <cp:revision>1</cp:revision>
  <dcterms:created xsi:type="dcterms:W3CDTF">2026-03-15T12:20:51Z</dcterms:created>
  <dcterms:modified xsi:type="dcterms:W3CDTF">2026-03-15T12:20:51Z</dcterms:modified>
</cp:coreProperties>
</file>