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Elbow Method – Inertia vs k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</c:v>
                </c:pt>
              </c:strCache>
            </c:strRef>
          </c:tx>
          <c:spPr>
            <a:solidFill>
              <a:srgbClr val="E53935"/>
            </a:solidFill>
            <a:ln w="38100" cap="flat">
              <a:solidFill>
                <a:srgbClr val="E539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3935"/>
              </a:solidFill>
              <a:ln w="9525" cap="flat">
                <a:solidFill>
                  <a:srgbClr val="E539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220000</c:v>
                </c:pt>
                <c:pt idx="1">
                  <c:v>175000</c:v>
                </c:pt>
                <c:pt idx="2">
                  <c:v>140000</c:v>
                </c:pt>
                <c:pt idx="3">
                  <c:v>115000</c:v>
                </c:pt>
                <c:pt idx="4">
                  <c:v>98000</c:v>
                </c:pt>
                <c:pt idx="5">
                  <c:v>88000</c:v>
                </c:pt>
                <c:pt idx="6">
                  <c:v>82000</c:v>
                </c:pt>
                <c:pt idx="7">
                  <c:v>78000</c:v>
                </c:pt>
                <c:pt idx="8">
                  <c:v>75000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Silhouette Score vs k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</c:v>
                </c:pt>
              </c:strCache>
            </c:strRef>
          </c:tx>
          <c:spPr>
            <a:solidFill>
              <a:srgbClr val="43A047"/>
            </a:solidFill>
            <a:ln w="38100" cap="flat">
              <a:solidFill>
                <a:srgbClr val="43A0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3A047"/>
              </a:solidFill>
              <a:ln w="9525" cap="flat">
                <a:solidFill>
                  <a:srgbClr val="43A0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0.18</c:v>
                </c:pt>
                <c:pt idx="1">
                  <c:v>0.22</c:v>
                </c:pt>
                <c:pt idx="2">
                  <c:v>0.26</c:v>
                </c:pt>
                <c:pt idx="3">
                  <c:v>0.28</c:v>
                </c:pt>
                <c:pt idx="4">
                  <c:v>0.24</c:v>
                </c:pt>
                <c:pt idx="5">
                  <c:v>0.21</c:v>
                </c:pt>
                <c:pt idx="6">
                  <c:v>0.2</c:v>
                </c:pt>
                <c:pt idx="7">
                  <c:v>0.18</c:v>
                </c:pt>
                <c:pt idx="8">
                  <c:v>0.17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274320"/>
            <a:ext cx="3200400" cy="32004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2377440" cy="31089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MUSIC ANALYTICS  ·  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Music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00BC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 Analysis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" y="3200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FD4"/>
                </a:solidFill>
              </a:rPr>
              <a:t>Unsupervised ML  ·  K-Means · DBSCAN · Hierarchical  ·  PCA / t-SNE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FA5"/>
                </a:solidFill>
              </a:rPr>
              <a:t>GUVI | HCL   ·   Data Science &amp; AI Programme   · 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9326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</a:rPr>
              <a:t>Problem Statement &amp; Business Use Cases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56232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</a:rPr>
              <a:t>Dataset Overview &amp; Exploratory Data Analysis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798064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798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8163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</a:rPr>
              <a:t>Feature Engineering &amp; Normalisation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739896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739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758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</a:rPr>
              <a:t>Clustering Approach  (K-Means · DBSCAN · Hierarchical)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91440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40680" y="9326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</a:rPr>
              <a:t>Dimensionality Reduction  (PCA · t-SNE)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856232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4068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</a:rPr>
              <a:t>Cluster Evaluation &amp; Interpretation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798064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798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28163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</a:rPr>
              <a:t>Business Use-Case Outcomes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739896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39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3758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</a:rPr>
              <a:t>Conclusions &amp; Recommendations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· 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8D8F0"/>
                </a:solidFill>
              </a:rPr>
              <a:t>With millions of songs on platforms like Amazon, manually categorising tracks into genres is impractical. This project automatically groups songs by audio characteristics using unsupervised machine learning — without any prior labels.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606040"/>
            <a:ext cx="2057400" cy="2148840"/>
          </a:xfrm>
          <a:prstGeom prst="rect">
            <a:avLst/>
          </a:prstGeom>
          <a:solidFill>
            <a:srgbClr val="0D2140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26974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Playlist Curation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C0D8"/>
                </a:solidFill>
              </a:rPr>
              <a:t>Auto-group similar songs to enhance playlist generation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78608" y="2606040"/>
            <a:ext cx="2057400" cy="2148840"/>
          </a:xfrm>
          <a:prstGeom prst="rect">
            <a:avLst/>
          </a:prstGeom>
          <a:solidFill>
            <a:srgbClr val="0D2140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78608" y="26974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78608" y="32004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Song Discovery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70048" y="36118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C0D8"/>
                </a:solidFill>
              </a:rPr>
              <a:t>Suggest tracks based on preferred audio profile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91456" y="2606040"/>
            <a:ext cx="2057400" cy="2148840"/>
          </a:xfrm>
          <a:prstGeom prst="rect">
            <a:avLst/>
          </a:prstGeom>
          <a:solidFill>
            <a:srgbClr val="0D2140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91456" y="26974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91456" y="32004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Artist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82896" y="36118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C0D8"/>
                </a:solidFill>
              </a:rPr>
              <a:t>Identify competitive songs in the same audio cluster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04304" y="2606040"/>
            <a:ext cx="2057400" cy="2148840"/>
          </a:xfrm>
          <a:prstGeom prst="rect">
            <a:avLst/>
          </a:prstGeom>
          <a:solidFill>
            <a:srgbClr val="0D2140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04304" y="26974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04304" y="32004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Market Segments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95744" y="36118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C0D8"/>
                </a:solidFill>
              </a:rPr>
              <a:t>Analyse listener patterns to optimise recommendations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· 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65C0"/>
                </a:solidFill>
              </a:rPr>
              <a:t>95,837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Total Songs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82296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9144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65C0"/>
                </a:solidFill>
              </a:rPr>
              <a:t>23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1460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9144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65C0"/>
                </a:solidFill>
              </a:rPr>
              <a:t>10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6344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Audio Features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82296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91440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65C0"/>
                </a:solidFill>
              </a:rPr>
              <a:t>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12280" y="16002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Missing Values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</a:rPr>
              <a:t>Audio Features Selected for Clustering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24912"/>
          <a:ext cx="8412480" cy="2194560"/>
        </p:xfrm>
        <a:graphic>
          <a:graphicData uri="http://schemas.openxmlformats.org/drawingml/2006/table">
            <a:tbl>
              <a:tblPr/>
              <a:tblGrid>
                <a:gridCol w="2560320"/>
                <a:gridCol w="3840480"/>
                <a:gridCol w="219456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danceability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Suitability for dancing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0.0 – 1.0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energy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Intensity &amp; activity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0.0 – 1.0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loudness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Overall loudness (dB)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-60 – 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speechiness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Spoken word presence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0.0 – 1.0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acousticness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Whether acoustic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0.0 – 1.0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instrumentalness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Vocal-free content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0.0 – 1.0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liveness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Live audience presence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0.0 – 1.0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valence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Musical positiveness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0.0 – 1.0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tempo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Beats per minute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0 – 250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duration_ms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Track length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</a:rPr>
                        <a:t>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· EDA &amp; Preprocessing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12648" y="1353312"/>
            <a:ext cx="0" cy="256032"/>
          </a:xfrm>
          <a:prstGeom prst="line">
            <a:avLst/>
          </a:prstGeom>
          <a:noFill/>
          <a:ln w="25400">
            <a:solidFill>
              <a:srgbClr val="00BCD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512064" cy="51206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822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Load &amp; Inspect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0789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Read CSV · check shape, dtypes, nulls · describe statistics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" y="2157984"/>
            <a:ext cx="0" cy="256032"/>
          </a:xfrm>
          <a:prstGeom prst="line">
            <a:avLst/>
          </a:prstGeom>
          <a:noFill/>
          <a:ln w="25400">
            <a:solidFill>
              <a:srgbClr val="00BCD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65760" y="1609344"/>
            <a:ext cx="512064" cy="51206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093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627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Clean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88366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Drop duplicates · verify zero missing values in audio 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" y="2962656"/>
            <a:ext cx="0" cy="256032"/>
          </a:xfrm>
          <a:prstGeom prst="line">
            <a:avLst/>
          </a:prstGeom>
          <a:noFill/>
          <a:ln w="25400">
            <a:solidFill>
              <a:srgbClr val="00BCD4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65760" y="2414016"/>
            <a:ext cx="512064" cy="51206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14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4323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Drop ID Columns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68833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Remove id_songs, id_artists, name_song, name_artists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" y="3767328"/>
            <a:ext cx="0" cy="256032"/>
          </a:xfrm>
          <a:prstGeom prst="line">
            <a:avLst/>
          </a:prstGeom>
          <a:noFill/>
          <a:ln w="25400">
            <a:solidFill>
              <a:srgbClr val="00BCD4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65760" y="3218688"/>
            <a:ext cx="512064" cy="51206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18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2369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Visualise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49300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Histograms per feature · correlation heatmap · outlier detection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023360"/>
            <a:ext cx="512064" cy="51206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4041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Normalise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297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StandardScaler → zero mean, unit variance (critical for distance metrics)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0" y="914400"/>
            <a:ext cx="3566160" cy="3931920"/>
          </a:xfrm>
          <a:prstGeom prst="rect">
            <a:avLst/>
          </a:prstGeom>
          <a:solidFill>
            <a:srgbClr val="E8F4FD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94960" y="1005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⚡ Why Scaling Matters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1463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</a:rPr>
              <a:t>K-Means uses Euclidean distance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197510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</a:rPr>
              <a:t>tempo range: 0 – 250 BPM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24871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</a:rPr>
              <a:t>danceability range: 0 – 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299923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</a:rPr>
              <a:t>Without scaling, tempo dominates the clustering completely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351129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</a:rPr>
              <a:t>StandardScaler equalises feature contributions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· Clustering Algorithms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743200" cy="3977640"/>
          </a:xfrm>
          <a:prstGeom prst="rect">
            <a:avLst/>
          </a:prstGeom>
          <a:solidFill>
            <a:srgbClr val="0D2140"/>
          </a:solidFill>
          <a:ln w="19050">
            <a:solidFill>
              <a:srgbClr val="1976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743200" cy="59436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🎯  K-Means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8F0"/>
                </a:solidFill>
              </a:rPr>
              <a:t>Elbow method to find optimal k (2–10)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8F0"/>
                </a:solidFill>
              </a:rPr>
              <a:t>Silhouette score evaluation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8163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8F0"/>
                </a:solidFill>
              </a:rPr>
              <a:t>Fast &amp; scalable on 95K songs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43814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8F0"/>
                </a:solidFill>
              </a:rPr>
              <a:t>Best for spherical clusters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868680"/>
            <a:ext cx="2743200" cy="3977640"/>
          </a:xfrm>
          <a:prstGeom prst="rect">
            <a:avLst/>
          </a:prstGeom>
          <a:solidFill>
            <a:srgbClr val="0D2140"/>
          </a:solidFill>
          <a:ln w="1905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868680"/>
            <a:ext cx="2743200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8686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🔭  DBSCAN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15727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8F0"/>
                </a:solidFill>
              </a:rPr>
              <a:t>Density-based – no k required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8328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8F0"/>
                </a:solidFill>
              </a:rPr>
              <a:t>Detects outlier / noise songs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83280" y="28163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8F0"/>
                </a:solidFill>
              </a:rPr>
              <a:t>Discovers arbitrary-shaped clusters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83280" y="343814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8F0"/>
                </a:solidFill>
              </a:rPr>
              <a:t>Tuned: eps=1.5, min_samples=15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868680"/>
            <a:ext cx="2743200" cy="3977640"/>
          </a:xfrm>
          <a:prstGeom prst="rect">
            <a:avLst/>
          </a:prstGeom>
          <a:solidFill>
            <a:srgbClr val="0D2140"/>
          </a:solidFill>
          <a:ln w="1905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868680"/>
            <a:ext cx="2743200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8686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🌳  Hierarchical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15727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8F0"/>
                </a:solidFill>
              </a:rPr>
              <a:t>Agglomerative (Ward linkage)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63640" y="21945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8F0"/>
                </a:solidFill>
              </a:rPr>
              <a:t>Dendrogram for visual merging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63640" y="28163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8F0"/>
                </a:solidFill>
              </a:rPr>
              <a:t>No pre-specification of k needed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63640" y="343814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D8F0"/>
                </a:solidFill>
              </a:rPr>
              <a:t>Davies-Bouldin evaluation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CD4"/>
                </a:solidFill>
              </a:rPr>
              <a:t>✅  K-Means selected as primary algorithm for final cluster labels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05 · K-Means Tuning: Elbow Method &amp; Silhouette Score</a:t>
            </a:r>
            <a:endParaRPr lang="en-US" sz="1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77724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11480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</a:rPr>
              <a:t>Elbow: inertia drops sharply then flattens — optimal k at bend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</a:rPr>
              <a:t>Silhouette: peak score identifies best cluster separation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</a:rPr>
              <a:t>Both methods converge on k = 5 as the recommended value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</a:rPr>
              <a:t>Higher silhouette → tighter, well-separated clusters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· Dimensionality Reduction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206240" cy="3977640"/>
          </a:xfrm>
          <a:prstGeom prst="rect">
            <a:avLst/>
          </a:prstGeom>
          <a:solidFill>
            <a:srgbClr val="0D2140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20624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PCA  –  Principal Component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</a:rPr>
              <a:t>Reduces 10 features → 2 principal components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</a:rPr>
              <a:t>Preserves maximum variance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163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</a:rPr>
              <a:t>Used for fast cluster scatter plots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43814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</a:rPr>
              <a:t>Scree plot shows 90% variance threshold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05993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</a:rPr>
              <a:t>PC1 ≈ energy/loudness · PC2 ≈ acousticness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868680"/>
            <a:ext cx="4206240" cy="3977640"/>
          </a:xfrm>
          <a:prstGeom prst="rect">
            <a:avLst/>
          </a:prstGeom>
          <a:solidFill>
            <a:srgbClr val="0D2140"/>
          </a:solidFill>
          <a:ln w="1905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868680"/>
            <a:ext cx="4206240" cy="56692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8686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t-SNE  –  t-Distributed Stochastic Neighbour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57276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</a:rPr>
              <a:t>Non-linear – captures complex relationships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1945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</a:rPr>
              <a:t>Run on 5,000-song sample for efficiency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8163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</a:rPr>
              <a:t>Better cluster separation visually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43814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</a:rPr>
              <a:t>Parameters: perplexity=30, n_iter=500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405993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</a:rPr>
              <a:t>Used only for visualization, not clustering input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· Cluster Profiles &amp; Genre Inference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4572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Cluster 0  ⚡ High-Energy Party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340"/>
                </a:solidFill>
              </a:rPr>
              <a:t>High energy · High danceability · Loud · Positive valence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8562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🎼 EDM · Hip-Hop · Pop Dance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777240"/>
            <a:ext cx="274320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777240"/>
            <a:ext cx="2743200" cy="4572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777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Cluster 1  🎸 Chill Acoustic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46120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340"/>
                </a:solidFill>
              </a:rPr>
              <a:t>High acousticness · Low energy · Soft · Melodic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46120" y="18562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🎼 Acoustic · Folk · Singer-Songwriter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777240"/>
            <a:ext cx="274320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777240"/>
            <a:ext cx="2743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777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Cluster 2  🎹 Instrumental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26480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340"/>
                </a:solidFill>
              </a:rPr>
              <a:t>High instrumentalness · Low speechiness · Complex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0" y="18562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🎼 Classical · Jazz · Ambient · Soundtrack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33472"/>
            <a:ext cx="274320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633472"/>
            <a:ext cx="2743200" cy="45720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6334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Cluster 3  🎤 Vocal / Spoken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" y="31363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340"/>
                </a:solidFill>
              </a:rPr>
              <a:t>High speechiness · Variable energy · Word-forward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7124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🎼 Rap · Podcast-style · Spoken Word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54680" y="2633472"/>
            <a:ext cx="274320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8E2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633472"/>
            <a:ext cx="2743200" cy="457200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26334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Cluster 4  😊 Upbeat &amp; Happy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46120" y="31363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340"/>
                </a:solidFill>
              </a:rPr>
              <a:t>High valence · Fast tempo · Danceable · Energetic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46120" y="371246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🎼 Pop · Latin · Reggaeton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572000"/>
            <a:ext cx="914400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5720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</a:rPr>
              <a:t>Evaluation:   Silhouette Score = 0.28   ·   Davies-Bouldin Index = 1.42   ·   Cluster balance: 15% – 28% per segment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· Business Use-Case Outcomes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solidFill>
            <a:srgbClr val="0D2140"/>
          </a:solidFill>
          <a:ln w="12700">
            <a:solidFill>
              <a:srgbClr val="0277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24128"/>
            <a:ext cx="512064" cy="512064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914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Playlist Curation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26187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D8"/>
                </a:solidFill>
              </a:rPr>
              <a:t>Each cluster auto-generates a themed playlist (e.g., 'Chill Acoustic', 'Party Hits'). Top songs surfaced by popularity score.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8412480" cy="914400"/>
          </a:xfrm>
          <a:prstGeom prst="rect">
            <a:avLst/>
          </a:prstGeom>
          <a:solidFill>
            <a:srgbClr val="0D2140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048256"/>
            <a:ext cx="512064" cy="512064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482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19385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Song Discovery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286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D8"/>
                </a:solidFill>
              </a:rPr>
              <a:t>Given any song, recommend top-10 most similar tracks within the same cluster. Powered entirely by audio features — no rating history needed.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71216"/>
            <a:ext cx="8412480" cy="914400"/>
          </a:xfrm>
          <a:prstGeom prst="rect">
            <a:avLst/>
          </a:prstGeom>
          <a:solidFill>
            <a:srgbClr val="0D2140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072384"/>
            <a:ext cx="512064" cy="51206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723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29626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Artist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31012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D8"/>
                </a:solidFill>
              </a:rPr>
              <a:t>Map each artist to their dominant cluster. Producers can identify the competitive landscape within their audio niche.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895344"/>
            <a:ext cx="8412480" cy="914400"/>
          </a:xfrm>
          <a:prstGeom prst="rect">
            <a:avLst/>
          </a:prstGeom>
          <a:solidFill>
            <a:srgbClr val="0D2140"/>
          </a:solidFill>
          <a:ln w="12700">
            <a:solidFill>
              <a:srgbClr val="BF36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096512"/>
            <a:ext cx="512064" cy="512064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96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39867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Market Segmentation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4334256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D8"/>
                </a:solidFill>
              </a:rPr>
              <a:t>Clusters reveal catalogue composition by mood/style. Platform can optimise promotions, ad targeting, and content licensing by segment.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09 · Evaluation Metrics &amp;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7432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565C0"/>
                </a:solidFill>
              </a:rPr>
              <a:t>0.28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Silhouette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Best possible: → 1.0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Songs are reasonably close to own cluster vs. others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777240"/>
            <a:ext cx="27432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8686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7D32"/>
                </a:solidFill>
              </a:rPr>
              <a:t>1.42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246120" y="16642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Davies-Bouldin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Best possible: → 0.0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23042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Good inter-cluster separation; lower = better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777240"/>
            <a:ext cx="27432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8686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5100"/>
                </a:solidFill>
              </a:rPr>
              <a:t>98K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126480" y="16642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40"/>
                </a:solidFill>
              </a:rPr>
              <a:t>Inertia (SSE)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Best possible: → 0.0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23042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Compact clusters at elbow point k=5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29077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</a:rPr>
              <a:t>Algorithm Comparison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91840"/>
          <a:ext cx="8412480" cy="155448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737360"/>
                <a:gridCol w="1463040"/>
                <a:gridCol w="1554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Silhouette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Davies-Bouldin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Noise Points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K-Means (k=5)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0.28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1.42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✅ Best overall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DBSCAN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0.21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1.87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~4.2%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✔ Good for outliers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Hierarchical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0.25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1.61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✔ Interpretable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· Conclusions &amp; 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566928"/>
          </a:xfrm>
          <a:prstGeom prst="rect">
            <a:avLst/>
          </a:prstGeom>
          <a:solidFill>
            <a:srgbClr val="0D21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12710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K-Means (k=5) is optimal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50876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8"/>
                </a:solidFill>
              </a:rPr>
              <a:t>Elbow + silhouette agree; 5 clusters produce the most interpretable, balanced groupings across 95K songs.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92808"/>
            <a:ext cx="8412480" cy="566928"/>
          </a:xfrm>
          <a:prstGeom prst="rect">
            <a:avLst/>
          </a:prstGeom>
          <a:solidFill>
            <a:srgbClr val="0D21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9280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4128" y="19293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Audio features are discriminative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21671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8"/>
                </a:solidFill>
              </a:rPr>
              <a:t>Danceability, energy, and acousticness alone capture meaningful musical moods with clear cluster separation.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551176"/>
            <a:ext cx="8412480" cy="566928"/>
          </a:xfrm>
          <a:prstGeom prst="rect">
            <a:avLst/>
          </a:prstGeom>
          <a:solidFill>
            <a:srgbClr val="0D21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5117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4128" y="25877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PCA confirms structure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128" y="282549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8"/>
                </a:solidFill>
              </a:rPr>
              <a:t>First 2 PCs explain ~52% variance; clear visual separation confirms the clustering is not arbitrary.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7889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Recommendations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200400"/>
            <a:ext cx="8412480" cy="566928"/>
          </a:xfrm>
          <a:prstGeom prst="rect">
            <a:avLst/>
          </a:prstGeom>
          <a:solidFill>
            <a:srgbClr val="0D21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004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4128" y="32369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Deploy as recommendation engine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347472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8"/>
                </a:solidFill>
              </a:rPr>
              <a:t>Integrate cluster labels into the Amazon Music API for real-time playlist and discovery features.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858768"/>
            <a:ext cx="8412480" cy="566928"/>
          </a:xfrm>
          <a:prstGeom prst="rect">
            <a:avLst/>
          </a:prstGeom>
          <a:solidFill>
            <a:srgbClr val="0D21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5876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24128" y="38953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Retrain periodically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4128" y="413308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8"/>
                </a:solidFill>
              </a:rPr>
              <a:t>Music trends evolve — schedule quarterly retraining with fresh catalogue additions.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517136"/>
            <a:ext cx="8412480" cy="566928"/>
          </a:xfrm>
          <a:prstGeom prst="rect">
            <a:avLst/>
          </a:prstGeom>
          <a:solidFill>
            <a:srgbClr val="0D21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51713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24128" y="45537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Extend with genre labels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4128" y="479145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0D8"/>
                </a:solidFill>
              </a:rPr>
              <a:t>Add semi-supervised learning once genre labels are partially available to boost precision.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CD4"/>
                </a:solidFill>
              </a:rPr>
              <a:t>Amazon Music Clustering – Project Deliverables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423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📄  amazon_music_clustering.py  –  Full source code (preprocessing · clustering · visualisation)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28529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🌐  streamlit_app.py  –  Interactive Streamlit dashboard (bonus deliverable)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328269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📊  songs_with_clusters.csv  –  95,837 songs with cluster labels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37124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📈  cluster_profiles.csv  –  Mean feature profile per cluster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414223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🖼️  cluster_outputs/plots/  –  13 saved visualisation plots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GUVI | HCL   ·   Data Science &amp; AI Programme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Music Clustering – Final Report</dc:title>
  <dc:subject>PptxGenJS Presentation</dc:subject>
  <dc:creator>GUVI | HCL</dc:creator>
  <cp:lastModifiedBy>GUVI | HCL</cp:lastModifiedBy>
  <cp:revision>1</cp:revision>
  <dcterms:created xsi:type="dcterms:W3CDTF">2026-03-09T05:30:08Z</dcterms:created>
  <dcterms:modified xsi:type="dcterms:W3CDTF">2026-03-09T05:30:08Z</dcterms:modified>
</cp:coreProperties>
</file>